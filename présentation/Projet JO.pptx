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11" Type="http://schemas.openxmlformats.org/officeDocument/2006/relationships/slide" Target="slides/slide7.xml"/><Relationship Id="rId22" Type="http://schemas.openxmlformats.org/officeDocument/2006/relationships/font" Target="fonts/InterSemiBold-boldItalic.fntdata"/><Relationship Id="rId10" Type="http://schemas.openxmlformats.org/officeDocument/2006/relationships/slide" Target="slides/slide6.xml"/><Relationship Id="rId21" Type="http://schemas.openxmlformats.org/officeDocument/2006/relationships/font" Target="fonts/InterSemiBold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nterSemiBold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143ab5bcc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b143ab5bc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148566371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b148566371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148566371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b148566371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143ab5bc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b143ab5bc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148566371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b148566371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143ab5bc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b143ab5bc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jpg"/><Relationship Id="rId9" Type="http://schemas.openxmlformats.org/officeDocument/2006/relationships/image" Target="../media/image18.png"/><Relationship Id="rId5" Type="http://schemas.openxmlformats.org/officeDocument/2006/relationships/image" Target="../media/image1.jpg"/><Relationship Id="rId6" Type="http://schemas.openxmlformats.org/officeDocument/2006/relationships/image" Target="../media/image3.jpg"/><Relationship Id="rId7" Type="http://schemas.openxmlformats.org/officeDocument/2006/relationships/image" Target="../media/image5.jp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49.png"/><Relationship Id="rId10" Type="http://schemas.openxmlformats.org/officeDocument/2006/relationships/image" Target="../media/image6.png"/><Relationship Id="rId9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1.jpg"/><Relationship Id="rId7" Type="http://schemas.openxmlformats.org/officeDocument/2006/relationships/image" Target="../media/image8.jp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Relationship Id="rId8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48.png"/><Relationship Id="rId10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40.png"/><Relationship Id="rId8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11" Type="http://schemas.openxmlformats.org/officeDocument/2006/relationships/image" Target="../media/image36.png"/><Relationship Id="rId10" Type="http://schemas.openxmlformats.org/officeDocument/2006/relationships/image" Target="../media/image33.png"/><Relationship Id="rId9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37.png"/><Relationship Id="rId8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32.jpg"/><Relationship Id="rId5" Type="http://schemas.openxmlformats.org/officeDocument/2006/relationships/hyperlink" Target="http://drive.google.com/file/d/1-x0cANts8IlHLnHcZSGTylTTkeVHxH5_/view" TargetMode="External"/><Relationship Id="rId6" Type="http://schemas.openxmlformats.org/officeDocument/2006/relationships/image" Target="../media/image30.jpg"/><Relationship Id="rId7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10" Type="http://schemas.openxmlformats.org/officeDocument/2006/relationships/image" Target="../media/image47.png"/><Relationship Id="rId9" Type="http://schemas.openxmlformats.org/officeDocument/2006/relationships/image" Target="../media/image45.png"/><Relationship Id="rId5" Type="http://schemas.openxmlformats.org/officeDocument/2006/relationships/image" Target="../media/image41.png"/><Relationship Id="rId6" Type="http://schemas.openxmlformats.org/officeDocument/2006/relationships/image" Target="../media/image46.png"/><Relationship Id="rId7" Type="http://schemas.openxmlformats.org/officeDocument/2006/relationships/image" Target="../media/image44.png"/><Relationship Id="rId8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00" y="795925"/>
            <a:ext cx="721025" cy="759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844500" y="2225275"/>
            <a:ext cx="72717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40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 Jeux Olympiques</a:t>
            </a:r>
            <a:endParaRPr sz="40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617850" y="2294875"/>
            <a:ext cx="78546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33850" y="4256150"/>
            <a:ext cx="1829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</a:rPr>
              <a:t>Stéphanie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</a:rPr>
              <a:t>BRETTON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437550" y="4256150"/>
            <a:ext cx="20349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</a:rPr>
              <a:t>Pierre-Alexandre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</a:rPr>
              <a:t>PAGET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529550" y="4256150"/>
            <a:ext cx="1829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</a:rPr>
              <a:t>Maxime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</a:rPr>
              <a:t>BREUILLARD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6445975" y="4256150"/>
            <a:ext cx="1829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</a:rPr>
              <a:t>Simon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</a:rPr>
              <a:t>CARTIGNY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62" name="Google Shape;62;p13" title="1757535878566.jpg"/>
          <p:cNvPicPr preferRelativeResize="0"/>
          <p:nvPr/>
        </p:nvPicPr>
        <p:blipFill rotWithShape="1">
          <a:blip r:embed="rId4">
            <a:alphaModFix/>
          </a:blip>
          <a:srcRect b="37036" l="117451" r="-68899" t="14429"/>
          <a:stretch/>
        </p:blipFill>
        <p:spPr>
          <a:xfrm>
            <a:off x="1158350" y="3331550"/>
            <a:ext cx="980100" cy="924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3" name="Google Shape;63;p13" title="1757535878566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6100" y="3331550"/>
            <a:ext cx="924600" cy="924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4" name="Google Shape;64;p13" title="1758895798787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2700" y="3331550"/>
            <a:ext cx="924600" cy="924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5" name="Google Shape;65;p13" title="1564208038449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81800" y="3331550"/>
            <a:ext cx="924600" cy="924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6" name="Google Shape;66;p13" title="176008330847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98225" y="3331550"/>
            <a:ext cx="924600" cy="924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7" name="Google Shape;67;p13" title="Olympic_flag.sv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56750" y="259150"/>
            <a:ext cx="2847200" cy="19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7225" y="495977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idx="4294967295" type="ctrTitle"/>
          </p:nvPr>
        </p:nvSpPr>
        <p:spPr>
          <a:xfrm>
            <a:off x="1309114" y="377484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Programme 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1040275" y="1218300"/>
            <a:ext cx="74280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fr">
                <a:solidFill>
                  <a:schemeClr val="dk2"/>
                </a:solidFill>
              </a:rPr>
              <a:t>Pourquoi les Jeux Olympiques ? 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fr">
                <a:solidFill>
                  <a:schemeClr val="dk2"/>
                </a:solidFill>
              </a:rPr>
              <a:t>Data </a:t>
            </a:r>
            <a:r>
              <a:rPr lang="fr">
                <a:solidFill>
                  <a:schemeClr val="dk1"/>
                </a:solidFill>
                <a:highlight>
                  <a:srgbClr val="FF0000"/>
                </a:highlight>
              </a:rPr>
              <a:t>( à reformuler ) </a:t>
            </a:r>
            <a:endParaRPr>
              <a:solidFill>
                <a:schemeClr val="dk1"/>
              </a:solidFill>
              <a:highlight>
                <a:srgbClr val="FF0000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fr">
                <a:solidFill>
                  <a:schemeClr val="dk2"/>
                </a:solidFill>
              </a:rPr>
              <a:t>EDA, visualisations pour explorer les pistes.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fr">
                <a:solidFill>
                  <a:schemeClr val="dk2"/>
                </a:solidFill>
              </a:rPr>
              <a:t>Analyse multidimensionnelle des performances olympiques : Étude croisée des succès sportifs, évolution des disciplines et intégrité des athlètes à travers les 63 éditions.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fr">
                <a:solidFill>
                  <a:schemeClr val="dk2"/>
                </a:solidFill>
              </a:rPr>
              <a:t>Conclusion / Ouverture  : Le sport devient-il le reflet de la géopolitique ?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78" name="Google Shape;78;p14"/>
          <p:cNvCxnSpPr/>
          <p:nvPr/>
        </p:nvCxnSpPr>
        <p:spPr>
          <a:xfrm>
            <a:off x="1309125" y="1442050"/>
            <a:ext cx="0" cy="211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Pourquoi les Jeux Olympiques ?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520950" y="1218300"/>
            <a:ext cx="7951500" cy="3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un sujet qui passionne l’ensemble des membres du groupe.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un sujet qui parle à une majorité de personnes à travers le monde.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</a:rPr>
              <a:t>audience estimée pour les JO de Paris 2024 : ~ 5 milliards de personnes </a:t>
            </a:r>
            <a:endParaRPr sz="1600">
              <a:solidFill>
                <a:schemeClr val="dk2"/>
              </a:solidFill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</a:rPr>
              <a:t>(</a:t>
            </a:r>
            <a:r>
              <a:rPr i="1" lang="fr" sz="1600">
                <a:solidFill>
                  <a:schemeClr val="dk2"/>
                </a:solidFill>
              </a:rPr>
              <a:t>à titre de comparaison : autant que la dernière Coupe du Monde au Qatar</a:t>
            </a:r>
            <a:r>
              <a:rPr lang="fr" sz="1600">
                <a:solidFill>
                  <a:schemeClr val="dk2"/>
                </a:solidFill>
              </a:rPr>
              <a:t>)</a:t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un défi technique : pouvoir manipuler des datasets massifs et variés dans le temps pour en extraire des insights pertinents.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8" name="Google Shape;88;p15"/>
          <p:cNvCxnSpPr/>
          <p:nvPr/>
        </p:nvCxnSpPr>
        <p:spPr>
          <a:xfrm>
            <a:off x="790200" y="2267425"/>
            <a:ext cx="612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Parcours des données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6" title="kagg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100" y="2227013"/>
            <a:ext cx="625326" cy="62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6"/>
          <p:cNvCxnSpPr>
            <a:stCxn id="96" idx="3"/>
          </p:cNvCxnSpPr>
          <p:nvPr/>
        </p:nvCxnSpPr>
        <p:spPr>
          <a:xfrm flipH="1" rot="10800000">
            <a:off x="1079426" y="2536688"/>
            <a:ext cx="1419000" cy="3000"/>
          </a:xfrm>
          <a:prstGeom prst="straightConnector1">
            <a:avLst/>
          </a:prstGeom>
          <a:noFill/>
          <a:ln cap="flat" cmpd="sng" w="19050">
            <a:solidFill>
              <a:srgbClr val="CD7F3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8" name="Google Shape;98;p16"/>
          <p:cNvSpPr txBox="1"/>
          <p:nvPr/>
        </p:nvSpPr>
        <p:spPr>
          <a:xfrm>
            <a:off x="1183400" y="2053938"/>
            <a:ext cx="10956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Collecte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68377" y="2227034"/>
            <a:ext cx="625325" cy="625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16"/>
          <p:cNvCxnSpPr/>
          <p:nvPr/>
        </p:nvCxnSpPr>
        <p:spPr>
          <a:xfrm flipH="1" rot="10800000">
            <a:off x="3608601" y="2536688"/>
            <a:ext cx="1419000" cy="3000"/>
          </a:xfrm>
          <a:prstGeom prst="straightConnector1">
            <a:avLst/>
          </a:prstGeom>
          <a:noFill/>
          <a:ln cap="flat" cmpd="sng" w="76200">
            <a:solidFill>
              <a:srgbClr val="CD7F3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1" name="Google Shape;101;p16"/>
          <p:cNvSpPr txBox="1"/>
          <p:nvPr/>
        </p:nvSpPr>
        <p:spPr>
          <a:xfrm>
            <a:off x="3608600" y="2053925"/>
            <a:ext cx="10956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Import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102" name="Google Shape;102;p16" title="wiki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2163" y="2977888"/>
            <a:ext cx="749200" cy="728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16"/>
          <p:cNvCxnSpPr>
            <a:stCxn id="102" idx="3"/>
          </p:cNvCxnSpPr>
          <p:nvPr/>
        </p:nvCxnSpPr>
        <p:spPr>
          <a:xfrm flipH="1" rot="10800000">
            <a:off x="1141363" y="2703663"/>
            <a:ext cx="1347900" cy="638700"/>
          </a:xfrm>
          <a:prstGeom prst="straightConnector1">
            <a:avLst/>
          </a:prstGeom>
          <a:noFill/>
          <a:ln cap="flat" cmpd="sng" w="19050">
            <a:solidFill>
              <a:srgbClr val="CD7F3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4" name="Google Shape;104;p16"/>
          <p:cNvSpPr txBox="1"/>
          <p:nvPr/>
        </p:nvSpPr>
        <p:spPr>
          <a:xfrm rot="-1553907">
            <a:off x="1141256" y="2659572"/>
            <a:ext cx="1095524" cy="2514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Scraping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105" name="Google Shape;105;p16" title="images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2504" y="2228427"/>
            <a:ext cx="625325" cy="6225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16"/>
          <p:cNvCxnSpPr/>
          <p:nvPr/>
        </p:nvCxnSpPr>
        <p:spPr>
          <a:xfrm flipH="1" rot="10800000">
            <a:off x="6249176" y="2536688"/>
            <a:ext cx="1419000" cy="3000"/>
          </a:xfrm>
          <a:prstGeom prst="straightConnector1">
            <a:avLst/>
          </a:prstGeom>
          <a:noFill/>
          <a:ln cap="flat" cmpd="sng" w="76200">
            <a:solidFill>
              <a:srgbClr val="C0C0C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7" name="Google Shape;107;p16"/>
          <p:cNvSpPr txBox="1"/>
          <p:nvPr/>
        </p:nvSpPr>
        <p:spPr>
          <a:xfrm>
            <a:off x="6156325" y="2053938"/>
            <a:ext cx="10956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Nettoyage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65400" y="1345850"/>
            <a:ext cx="1255752" cy="150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 title="images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1500713">
            <a:off x="1725450" y="3099938"/>
            <a:ext cx="308825" cy="30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6"/>
          <p:cNvCxnSpPr/>
          <p:nvPr/>
        </p:nvCxnSpPr>
        <p:spPr>
          <a:xfrm flipH="1">
            <a:off x="5042550" y="3121575"/>
            <a:ext cx="3110100" cy="891300"/>
          </a:xfrm>
          <a:prstGeom prst="straightConnector1">
            <a:avLst/>
          </a:prstGeom>
          <a:noFill/>
          <a:ln cap="flat" cmpd="sng" w="28575">
            <a:solidFill>
              <a:srgbClr val="C0C0C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1" name="Google Shape;11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29874" y="3706840"/>
            <a:ext cx="704701" cy="704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 rot="-941998">
            <a:off x="5158455" y="3502758"/>
            <a:ext cx="3338140" cy="677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</a:rPr>
              <a:t>Dernier nettoyage et jointures via schéma OLAP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14" name="Google Shape;114;p16" title="icone js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68375" y="1269042"/>
            <a:ext cx="625325" cy="6253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16"/>
          <p:cNvCxnSpPr/>
          <p:nvPr/>
        </p:nvCxnSpPr>
        <p:spPr>
          <a:xfrm flipH="1" rot="10800000">
            <a:off x="3608601" y="1679338"/>
            <a:ext cx="1419000" cy="3000"/>
          </a:xfrm>
          <a:prstGeom prst="straightConnector1">
            <a:avLst/>
          </a:prstGeom>
          <a:noFill/>
          <a:ln cap="flat" cmpd="sng" w="76200">
            <a:solidFill>
              <a:srgbClr val="CD7F3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6" name="Google Shape;116;p16" title="mapshaper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42511" y="1269750"/>
            <a:ext cx="625325" cy="62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3608600" y="1182175"/>
            <a:ext cx="10956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Import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118" name="Google Shape;118;p16"/>
          <p:cNvCxnSpPr/>
          <p:nvPr/>
        </p:nvCxnSpPr>
        <p:spPr>
          <a:xfrm flipH="1" rot="10800000">
            <a:off x="6249176" y="1735038"/>
            <a:ext cx="1419000" cy="3000"/>
          </a:xfrm>
          <a:prstGeom prst="straightConnector1">
            <a:avLst/>
          </a:prstGeom>
          <a:noFill/>
          <a:ln cap="flat" cmpd="sng" w="76200">
            <a:solidFill>
              <a:srgbClr val="C0C0C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9" name="Google Shape;119;p16"/>
          <p:cNvSpPr txBox="1"/>
          <p:nvPr/>
        </p:nvSpPr>
        <p:spPr>
          <a:xfrm>
            <a:off x="6153575" y="1210025"/>
            <a:ext cx="13479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Reformatage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idx="4294967295" type="ctrTitle"/>
          </p:nvPr>
        </p:nvSpPr>
        <p:spPr>
          <a:xfrm>
            <a:off x="1192678" y="403300"/>
            <a:ext cx="69414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Collecte et importation des données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446675" y="1116175"/>
            <a:ext cx="8179500" cy="3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Récupération de l’ensemble du jeu de données.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-	</a:t>
            </a:r>
            <a:r>
              <a:rPr lang="fr" sz="1700">
                <a:solidFill>
                  <a:schemeClr val="dk2"/>
                </a:solidFill>
              </a:rPr>
              <a:t>11 tables (7 via Kaggle, 4 par scraping sur Wikipedia).</a:t>
            </a:r>
            <a:endParaRPr sz="1700">
              <a:solidFill>
                <a:schemeClr val="dk2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2"/>
                </a:solidFill>
              </a:rPr>
              <a:t>-	483517 lignes / 85 colonnes sur l’ensemble des 11 tables collectées.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Création d’un fichier json contenant les coordonnées des limites de continents reformaté via Mapshaper (outil Opensource) pour obtenir une carte personnalisable sur Power BI en 3D.</a:t>
            </a:r>
            <a:endParaRPr sz="1900">
              <a:solidFill>
                <a:schemeClr val="dk2"/>
              </a:solidFill>
            </a:endParaRPr>
          </a:p>
        </p:txBody>
      </p:sp>
      <p:sp>
        <p:nvSpPr>
          <p:cNvPr id="128" name="Google Shape;12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Traitement du dataset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8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167" y="1132877"/>
            <a:ext cx="625325" cy="62254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1282250" y="1021450"/>
            <a:ext cx="7111800" cy="11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fr" sz="1700">
                <a:solidFill>
                  <a:schemeClr val="dk2"/>
                </a:solidFill>
              </a:rPr>
              <a:t>dédoublonnage des données : 1208 doublons supprimés.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fr" sz="1700">
                <a:solidFill>
                  <a:schemeClr val="dk2"/>
                </a:solidFill>
              </a:rPr>
              <a:t>suppression :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fr" sz="1700">
                <a:solidFill>
                  <a:schemeClr val="dk2"/>
                </a:solidFill>
              </a:rPr>
              <a:t>1 table “Results” 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fr" sz="1700">
                <a:solidFill>
                  <a:schemeClr val="dk2"/>
                </a:solidFill>
              </a:rPr>
              <a:t>7 colonnes parmi les autres tables.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fr" sz="1700">
                <a:solidFill>
                  <a:schemeClr val="dk2"/>
                </a:solidFill>
              </a:rPr>
              <a:t>création :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fr" sz="1700">
                <a:solidFill>
                  <a:schemeClr val="dk2"/>
                </a:solidFill>
              </a:rPr>
              <a:t>colonnes “saison”, “continent”, “imc”, “ip” et “gender_category”.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fr" sz="1700">
                <a:solidFill>
                  <a:schemeClr val="dk2"/>
                </a:solidFill>
              </a:rPr>
              <a:t>clés “sport_event_id” et “sport_id” pour favoriser les jointures.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fr" sz="1700">
                <a:solidFill>
                  <a:schemeClr val="dk2"/>
                </a:solidFill>
              </a:rPr>
              <a:t>remplacement de la valeur “1956 Equestrian Olympics” correspondant aux JO d’été de 1956.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fr" sz="1700">
                <a:solidFill>
                  <a:schemeClr val="dk2"/>
                </a:solidFill>
              </a:rPr>
              <a:t>jointure de 3 tables pour obtenir l’âge de l’athlète au moment de l’olympiade.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fr" sz="1700">
                <a:solidFill>
                  <a:schemeClr val="dk2"/>
                </a:solidFill>
              </a:rPr>
              <a:t>premières visualisations EDA.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fr" sz="1700">
                <a:solidFill>
                  <a:schemeClr val="dk2"/>
                </a:solidFill>
              </a:rPr>
              <a:t>enregistrement des différents fichiers .csv.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5683025" y="1533975"/>
            <a:ext cx="324900" cy="622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6063650" y="1511925"/>
            <a:ext cx="21819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600">
                <a:solidFill>
                  <a:schemeClr val="dk2"/>
                </a:solidFill>
              </a:rPr>
              <a:t>jugées inutiles pour notre analyse</a:t>
            </a:r>
            <a:endParaRPr i="1" sz="1600">
              <a:solidFill>
                <a:schemeClr val="dk2"/>
              </a:solidFill>
            </a:endParaRPr>
          </a:p>
        </p:txBody>
      </p:sp>
      <p:sp>
        <p:nvSpPr>
          <p:cNvPr id="140" name="Google Shape;1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idx="4294967295" type="ctrTitle"/>
          </p:nvPr>
        </p:nvSpPr>
        <p:spPr>
          <a:xfrm>
            <a:off x="1192675" y="403300"/>
            <a:ext cx="6494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Fact constellation schema  OLTP / OLAP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46" name="Google Shape;1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74" y="988165"/>
            <a:ext cx="704701" cy="7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 title="Capture d'écran 2025-12-17 1315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4000" y="936400"/>
            <a:ext cx="6462676" cy="378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/>
          <p:nvPr/>
        </p:nvSpPr>
        <p:spPr>
          <a:xfrm>
            <a:off x="6088450" y="1244575"/>
            <a:ext cx="2556300" cy="891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3238150" y="1244575"/>
            <a:ext cx="2556300" cy="891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1532125" y="2897375"/>
            <a:ext cx="2556300" cy="1104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4698250" y="2897375"/>
            <a:ext cx="2556300" cy="1104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387875" y="1244575"/>
            <a:ext cx="2556300" cy="891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 txBox="1"/>
          <p:nvPr>
            <p:ph idx="4294967295" type="ctrTitle"/>
          </p:nvPr>
        </p:nvSpPr>
        <p:spPr>
          <a:xfrm>
            <a:off x="1192675" y="403300"/>
            <a:ext cx="6653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“ Plus vite, plus haut, plus fort ? “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575075" y="1283300"/>
            <a:ext cx="21819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Synthèse et chiffres clés de 126 ans d’Olympisme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1532125" y="2938475"/>
            <a:ext cx="25563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Répartition des médailles et domination de certaines nations et continents 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6275650" y="1244575"/>
            <a:ext cx="21819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Analyse sur les différentes disciplines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3425363" y="1244575"/>
            <a:ext cx="21819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Evolution des athlètes à travers les différentes éditions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733650" y="2897375"/>
            <a:ext cx="24855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Dopage &amp; tricherie 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Prise de conscience de l’impact </a:t>
            </a:r>
            <a:r>
              <a:rPr lang="fr">
                <a:solidFill>
                  <a:schemeClr val="dk2"/>
                </a:solidFill>
              </a:rPr>
              <a:t>géopolitique</a:t>
            </a:r>
            <a:r>
              <a:rPr lang="fr">
                <a:solidFill>
                  <a:schemeClr val="dk2"/>
                </a:solidFill>
              </a:rPr>
              <a:t> sur le sport ?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7" name="Google Shape;16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idx="4294967295" type="ctrTitle"/>
          </p:nvPr>
        </p:nvSpPr>
        <p:spPr>
          <a:xfrm>
            <a:off x="1232550" y="374150"/>
            <a:ext cx="655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400">
                <a:solidFill>
                  <a:schemeClr val="dk2"/>
                </a:solidFill>
              </a:rPr>
              <a:t>Synthèse et chiffres clés de 126 ans d’Olympisme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73" name="Google Shape;1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75" name="Google Shape;175;p21" title="Capture d'écran 2025-12-17 1605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21156"/>
            <a:ext cx="8839201" cy="77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 title="Capture d'écran 2025-12-17 16062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953219"/>
            <a:ext cx="356235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 title="Capture d'écran 2025-12-17 16060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92250" y="3434113"/>
            <a:ext cx="3525450" cy="1229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 title="Capture d'écran 2025-12-17 16061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92246" y="1918075"/>
            <a:ext cx="3525450" cy="124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 title="Capture d'écran 2025-12-17 16053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3348775"/>
            <a:ext cx="2194075" cy="16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idx="4294967295" type="ctrTitle"/>
          </p:nvPr>
        </p:nvSpPr>
        <p:spPr>
          <a:xfrm>
            <a:off x="1232550" y="374150"/>
            <a:ext cx="655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400">
                <a:solidFill>
                  <a:schemeClr val="dk2"/>
                </a:solidFill>
              </a:rPr>
              <a:t>Evolution des athlètes à travers les différentes éditions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85" name="Google Shape;1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7" name="Google Shape;187;p22" title="Capture d'écran 2025-12-17 1609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0875" y="3377725"/>
            <a:ext cx="2778200" cy="167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 title="Capture d'écran 2025-12-17 16094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725" y="1088149"/>
            <a:ext cx="2864100" cy="16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 title="Capture d'écran 2025-12-17 16125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3900" y="2797700"/>
            <a:ext cx="2969651" cy="230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2" title="Capture d'écran 2025-12-17 16135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99525" y="2640187"/>
            <a:ext cx="1404625" cy="628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 title="Capture d'écran 2025-12-17 16141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500" y="2797700"/>
            <a:ext cx="1425275" cy="68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 title="Capture d'écran 2025-12-17 16140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525" y="3583737"/>
            <a:ext cx="1404622" cy="68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 title="Capture d'écran 2025-12-17 161358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188" y="4369770"/>
            <a:ext cx="1425275" cy="687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4294967295" type="ctrTitle"/>
          </p:nvPr>
        </p:nvSpPr>
        <p:spPr>
          <a:xfrm>
            <a:off x="1192675" y="347575"/>
            <a:ext cx="655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400">
                <a:solidFill>
                  <a:schemeClr val="dk2"/>
                </a:solidFill>
              </a:rPr>
              <a:t>Analyse sur les différentes disciplines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99" name="Google Shape;1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01" name="Google Shape;201;p23" title="imag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2175" y="7020"/>
            <a:ext cx="1641825" cy="89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3" title="olympic-games-logo-clipart-m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7" y="4254950"/>
            <a:ext cx="1661244" cy="9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3" title="Capture d'écran 2025-12-17 16202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810" y="1446900"/>
            <a:ext cx="1176240" cy="66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3" title="Capture d'écran 2025-12-17 16201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44901" y="3699675"/>
            <a:ext cx="3780851" cy="13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3" title="Capture d'écran 2025-12-17 16201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44901" y="2200050"/>
            <a:ext cx="3780850" cy="143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3" title="Capture d'écran 2025-12-17 162211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62649" y="1446900"/>
            <a:ext cx="1290925" cy="66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3" title="Capture d'écran 2025-12-17 162143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20700" y="3255902"/>
            <a:ext cx="2148550" cy="1748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3" title="Capture d'écran 2025-12-17 162157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800" y="2200050"/>
            <a:ext cx="2623350" cy="143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idx="4294967295" type="ctrTitle"/>
          </p:nvPr>
        </p:nvSpPr>
        <p:spPr>
          <a:xfrm>
            <a:off x="1232550" y="374150"/>
            <a:ext cx="655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400">
                <a:solidFill>
                  <a:schemeClr val="dk2"/>
                </a:solidFill>
              </a:rPr>
              <a:t>Répartition des médailles et domination de certaines nations et continents 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14" name="Google Shape;21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16" name="Google Shape;216;p24" title="desktop-wallpaper-olympics-games-3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1075" y="1"/>
            <a:ext cx="1362924" cy="76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4" title="3D Map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42725" y="2937525"/>
            <a:ext cx="6205076" cy="220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4" title="Capture d'écran 2025-12-17 16265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12150" y="1093025"/>
            <a:ext cx="2685850" cy="15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/>
          <p:nvPr>
            <p:ph idx="4294967295" type="ctrTitle"/>
          </p:nvPr>
        </p:nvSpPr>
        <p:spPr>
          <a:xfrm>
            <a:off x="1192675" y="403300"/>
            <a:ext cx="6653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400">
                <a:solidFill>
                  <a:schemeClr val="dk2"/>
                </a:solidFill>
              </a:rPr>
              <a:t>Dopage &amp; tricherie 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400">
                <a:solidFill>
                  <a:schemeClr val="dk2"/>
                </a:solidFill>
              </a:rPr>
              <a:t>Prise de conscience de l’impact géopolitique sur le sport ?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24" name="Google Shape;2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26" name="Google Shape;226;p25" title="Capture d'écran 2025-12-17 1455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8050" y="2234913"/>
            <a:ext cx="2493128" cy="1645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5" title="Capture d'écran 2025-12-17 14551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4075" y="1214525"/>
            <a:ext cx="1940875" cy="218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5" title="Capture d'écran 2025-12-17 14545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94075" y="3643700"/>
            <a:ext cx="2367475" cy="122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5" title="Capture d'écran 2025-12-17 14540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5225" y="3220926"/>
            <a:ext cx="2149875" cy="174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5" title="Capture d'écran 2025-12-17 14534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80100" y="4081550"/>
            <a:ext cx="971075" cy="53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5" title="Capture d'écran 2025-12-17 145330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58050" y="4130125"/>
            <a:ext cx="1111050" cy="53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5" title="médaille-olympiques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388400" y="0"/>
            <a:ext cx="1755600" cy="1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>
            <p:ph idx="4294967295" type="ctrTitle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" sz="52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Any questions ?</a:t>
            </a:r>
            <a:endParaRPr b="0" i="0" sz="52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38" name="Google Shape;2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